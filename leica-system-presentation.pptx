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53660"/>
          </a:solidFill>
          <a:ln w="12700">
            <a:solidFill>
              <a:srgbClr val="253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73152" cy="514350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00" cy="54864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Leica 報價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9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配置系統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HistoCore MULTICUT · 功能介紹 · 系統架構 · 更新日誌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29400" y="1371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功能介紹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0" y="1828800"/>
            <a:ext cx="1645920" cy="0"/>
          </a:xfrm>
          <a:prstGeom prst="line">
            <a:avLst/>
          </a:prstGeom>
          <a:noFill/>
          <a:ln w="12700">
            <a:solidFill>
              <a:srgbClr val="2D3F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2514600"/>
            <a:ext cx="1645920" cy="0"/>
          </a:xfrm>
          <a:prstGeom prst="line">
            <a:avLst/>
          </a:prstGeom>
          <a:noFill/>
          <a:ln w="12700">
            <a:solidFill>
              <a:srgbClr val="2D3F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更新日誌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6400800" cy="388620"/>
          </a:xfrm>
          <a:prstGeom prst="rect">
            <a:avLst/>
          </a:prstGeom>
          <a:solidFill>
            <a:srgbClr val="111824"/>
          </a:solidFill>
          <a:ln w="12700">
            <a:solidFill>
              <a:srgbClr val="1118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7823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·  醫療設備報價系統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本次簡報涵蓋內容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82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Leica HistoCore MULTICUT 報價配置系統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82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34440"/>
            <a:ext cx="64008" cy="713232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44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984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系統定位與概覽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69848" y="16367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適用場景與核心價值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23444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234440"/>
            <a:ext cx="64008" cy="713232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344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6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5896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核心功能模組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58968" y="16367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六大功能模組介紹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05740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057400"/>
            <a:ext cx="64008" cy="713232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1671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69848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配置與審批流程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69848" y="24597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報價配置 + 多級審批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05740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057400"/>
            <a:ext cx="6400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1671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58968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角色與權限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58968" y="24597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種角色、雙重權限矩陣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88036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880360"/>
            <a:ext cx="64008" cy="7132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9900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69848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Excel 匯入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69848" y="32826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自動分析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88036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880360"/>
            <a:ext cx="64008" cy="713232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9900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6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58968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技術架構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58968" y="32826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前後端 + 資料庫設計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7033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" y="3703320"/>
            <a:ext cx="64008" cy="713232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8130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69848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部署架構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69848" y="41056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 → GitHub → Railway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37033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3703320"/>
            <a:ext cx="64008" cy="713232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8130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458968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更新日誌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458968" y="41056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 → v0.8 演進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系統定位與概覽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Leica HistoCore MULTICUT 醫療設備報價管理平台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82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Leica HistoCore MULTICUT 報價配置系統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82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4114800" cy="3429000"/>
          </a:xfrm>
          <a:prstGeom prst="rect">
            <a:avLst/>
          </a:prstGeom>
          <a:solidFill>
            <a:srgbClr val="1C2B4A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核心定位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專為 Leica 切片機產品線設計的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醫療設備報價配置系統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從產品選擇、報價生成到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多級審批，一站式完成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4864" cy="201168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290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醫院採購部門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4864" cy="201168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033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業務報價流程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4864" cy="201168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776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管理層審批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54864" cy="201168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2519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財務定價管控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23444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14173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4709160" y="20756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種角色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2404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細分權限管理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123444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0" y="14173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6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6858000" y="20756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層定價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2404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成本→零售完整鏈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06324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3246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4709160" y="3904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張資料表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09160" y="4233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完整業務資料模型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306324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0" y="3246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4400" dirty="0"/>
          </a:p>
        </p:txBody>
      </p:sp>
      <p:sp>
        <p:nvSpPr>
          <p:cNvPr id="34" name="Text 32"/>
          <p:cNvSpPr/>
          <p:nvPr/>
        </p:nvSpPr>
        <p:spPr>
          <a:xfrm>
            <a:off x="6858000" y="3904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0" y="4233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自動匯入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核心功能模組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六大模組完整覆蓋業務流程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82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Leica HistoCore MULTICUT 報價配置系統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82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80160"/>
            <a:ext cx="64008" cy="150876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44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69848" y="14630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產品配置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69848" y="1847088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動態選擇主機+配件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自動計算報價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12801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1280160"/>
            <a:ext cx="64008" cy="1508760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444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58768" y="14630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報價單管理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58768" y="1847088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草稿→提交→審核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PDF 下載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97880" y="12801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1280160"/>
            <a:ext cx="64008" cy="1508760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444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47688" y="14630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多級審批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47688" y="1847088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→ PM → 財務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三層審批鏈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990088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90088"/>
            <a:ext cx="64008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69848" y="31729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角色權限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69848" y="3557016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種角色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品牌+功能雙重矩陣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08960" y="2990088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08960" y="2990088"/>
            <a:ext cx="64008" cy="1508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858768" y="31729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匯入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858768" y="3557016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分析 Excel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自動對應欄位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97880" y="2990088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97880" y="2990088"/>
            <a:ext cx="64008" cy="1508760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647688" y="31729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通知系統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647688" y="3557016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即時通知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已讀狀態追蹤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報價配置流程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從產品選擇到提交審核的完整流程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82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Leica HistoCore MULTICUT 報價配置系統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82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426464"/>
            <a:ext cx="365760" cy="365760"/>
          </a:xfrm>
          <a:prstGeom prst="ellipse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538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92224"/>
            <a:ext cx="0" cy="530352"/>
          </a:xfrm>
          <a:prstGeom prst="line">
            <a:avLst/>
          </a:prstGeom>
          <a:noFill/>
          <a:ln w="19050">
            <a:solidFill>
              <a:srgbClr val="D9E2F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22960" y="1389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選擇產品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0" y="1316736"/>
            <a:ext cx="6035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80360" y="13716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BOM 目錄選擇儀器，系統自動預選主機與內含配件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139696"/>
            <a:ext cx="365760" cy="365760"/>
          </a:xfrm>
          <a:prstGeom prst="ellipse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6712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0" cy="530352"/>
          </a:xfrm>
          <a:prstGeom prst="line">
            <a:avLst/>
          </a:prstGeom>
          <a:noFill/>
          <a:ln w="19050">
            <a:solidFill>
              <a:srgbClr val="D9E2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2296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調整配置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0" y="2029968"/>
            <a:ext cx="6035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880360" y="208483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自訂單價、數量，實時計算報價總額，4層定價可見性控制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852928"/>
            <a:ext cx="365760" cy="365760"/>
          </a:xfrm>
          <a:prstGeom prst="ellipse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803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218688"/>
            <a:ext cx="0" cy="530352"/>
          </a:xfrm>
          <a:prstGeom prst="line">
            <a:avLst/>
          </a:prstGeom>
          <a:noFill/>
          <a:ln w="19050">
            <a:solidFill>
              <a:srgbClr val="D9E2F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82296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填寫客戶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0" y="2743200"/>
            <a:ext cx="6035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880360" y="279806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輸入客戶名稱、機構、聯絡資料及案件說明備註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56616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59359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0" cy="530352"/>
          </a:xfrm>
          <a:prstGeom prst="line">
            <a:avLst/>
          </a:prstGeom>
          <a:noFill/>
          <a:ln w="19050">
            <a:solidFill>
              <a:srgbClr val="D9E2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822960" y="35295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預覽下載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43200" y="3456432"/>
            <a:ext cx="6035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880360" y="351129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預覽報價單，支援 PDF 下載，確認無誤後提交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279392"/>
            <a:ext cx="365760" cy="36576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30682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" y="42428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提交審批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0" y="4169664"/>
            <a:ext cx="6035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880360" y="422452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報價狀態從草稿(draft)轉為提交(submitted)進入審批鏈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多級審批流程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報價單狀態流轉與審批鏈設計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82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Leica HistoCore MULTICUT 報價配置系統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82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1417320" cy="914400"/>
          </a:xfrm>
          <a:prstGeom prst="rect">
            <a:avLst/>
          </a:prstGeom>
          <a:solidFill>
            <a:srgbClr val="D9E2F0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508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草稿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8836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83080" y="1828800"/>
            <a:ext cx="24003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4223" y="170992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68830" y="1371600"/>
            <a:ext cx="1417320" cy="914400"/>
          </a:xfrm>
          <a:prstGeom prst="rect">
            <a:avLst/>
          </a:prstGeom>
          <a:solidFill>
            <a:srgbClr val="EAF1FB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68830" y="1508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6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已提交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68830" y="18836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31870" y="1828800"/>
            <a:ext cx="24003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33013" y="170992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17620" y="1371600"/>
            <a:ext cx="141732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17620" y="1508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總經理審核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17620" y="18836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pending_gm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80660" y="1828800"/>
            <a:ext cx="24003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1803" y="170992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66410" y="1371600"/>
            <a:ext cx="1417320" cy="914400"/>
          </a:xfrm>
          <a:prstGeom prst="rect">
            <a:avLst/>
          </a:prstGeom>
          <a:solidFill>
            <a:srgbClr val="F0EAF9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66410" y="1508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產品經理審核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66410" y="18836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pending_pm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29450" y="1828800"/>
            <a:ext cx="24003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30593" y="170992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0" y="1371600"/>
            <a:ext cx="1417320" cy="914400"/>
          </a:xfrm>
          <a:prstGeom prst="rect">
            <a:avLst/>
          </a:prstGeom>
          <a:solidFill>
            <a:srgbClr val="E6F7E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0" y="1508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已核准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0" y="18836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2514600"/>
            <a:ext cx="1417320" cy="777240"/>
          </a:xfrm>
          <a:prstGeom prst="rect">
            <a:avLst/>
          </a:prstGeom>
          <a:solidFill>
            <a:srgbClr val="F5E6E6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0040" y="2651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已駁回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0040" y="29626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24128" y="2286000"/>
            <a:ext cx="0" cy="228600"/>
          </a:xfrm>
          <a:prstGeom prst="line">
            <a:avLst/>
          </a:prstGeom>
          <a:noFill/>
          <a:ln w="19050">
            <a:solidFill>
              <a:srgbClr val="D92B2B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097280" y="23134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9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駁回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502152"/>
            <a:ext cx="54864" cy="256032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4838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總經理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828800" y="348386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負責高金額報價或指定審批對象的最終核准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" y="3959352"/>
            <a:ext cx="54864" cy="256032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9410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產品經理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828800" y="394106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僅能審核自己負責品牌/產品的報價，跨品牌自動跳過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0040" y="4416552"/>
            <a:ext cx="54864" cy="256032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3982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審批歷史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828800" y="439826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每個審批步驟完整記錄操作者、時間、意見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角色與權限模型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種角色 + 品牌 × 功能雙重權限矩陣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82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Leica HistoCore MULTICUT 報價配置系統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82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64008" cy="804672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325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超級管理員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16367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9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18196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完全控制所有功能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0" y="123444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1234440"/>
            <a:ext cx="64008" cy="804672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325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6367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6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18196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用戶/產品/定價/報價管理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123444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1234440"/>
            <a:ext cx="64008" cy="804672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1325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業務代表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44768" y="16367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44768" y="18196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建立報價、查看建議售價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14884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148840"/>
            <a:ext cx="6400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財務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" y="25511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" y="2734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審核報價、定價管理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08960" y="214884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08960" y="2148840"/>
            <a:ext cx="64008" cy="8046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總經理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10128" y="25511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10128" y="2734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高金額報價最終審批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0" y="214884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0" y="2148840"/>
            <a:ext cx="64008" cy="804672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產品經理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44768" y="25511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6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44768" y="2734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審核指定品牌產品報價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06324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063240"/>
            <a:ext cx="64008" cy="804672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管理層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75488" y="34655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" y="36484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報價審核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108960" y="306324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108960" y="3063240"/>
            <a:ext cx="6400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10128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310128" y="34655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10128" y="36484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查看零售價、提交報價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43600" y="306324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943600" y="3063240"/>
            <a:ext cx="64008" cy="80467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44768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示範帳號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144768" y="34655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44768" y="36484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唯讀演示，不可寫入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Excel 匯入功能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自動分析 Excel 並轉換為結構化產品資料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82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Leica HistoCore MULTICUT 報價配置系統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82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80160"/>
            <a:ext cx="64008" cy="2011680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447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" y="19751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6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 Excel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業務人員上傳產品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檔（.xlsx）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支援多種欄位命名格式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568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200400" y="128016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280160"/>
            <a:ext cx="64008" cy="20116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4447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00400" y="19751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37560" y="23774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自動識別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欄位對應關係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提取4層定價資訊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568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080760" y="128016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280160"/>
            <a:ext cx="64008" cy="2011680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4447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080760" y="19751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預覽確認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17920" y="23774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管理員預覽處理結果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確認後批量匯入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資料庫避免誤入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520440"/>
            <a:ext cx="8503920" cy="868680"/>
          </a:xfrm>
          <a:prstGeom prst="rect">
            <a:avLst/>
          </a:prstGeom>
          <a:solidFill>
            <a:srgbClr val="1C2B4A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層定價結構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68880" y="35844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68880" y="3904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cost_price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31920" y="3621024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EC0"/>
                </a:solidFill>
              </a:rPr>
              <a:t>→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69080" y="35844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最低售價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69080" y="3904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min_sell_price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32120" y="3621024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EC0"/>
                </a:solidFill>
              </a:rPr>
              <a:t>→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35844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建議報價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0" y="3904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suggested_price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32320" y="3621024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EC0"/>
                </a:solidFill>
              </a:rPr>
              <a:t>→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69480" y="35844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6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零售價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69480" y="3904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retail_price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技術架構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前後端分離 + SQLite + Claude AI 整合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82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Leica HistoCore MULTICUT 報價配置系統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82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2560320" cy="2286000"/>
          </a:xfrm>
          <a:prstGeom prst="rect">
            <a:avLst/>
          </a:prstGeom>
          <a:solidFill>
            <a:srgbClr val="EAF1FB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80160"/>
            <a:ext cx="2560320" cy="502920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71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18745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Vanilla JS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2768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無框架依賴，輕量快速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6791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/ admin / quotes / products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0815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認證管理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280160"/>
            <a:ext cx="2560320" cy="2286000"/>
          </a:xfrm>
          <a:prstGeom prst="rect">
            <a:avLst/>
          </a:prstGeom>
          <a:solidFill>
            <a:srgbClr val="E6F7E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280160"/>
            <a:ext cx="2560320" cy="502920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371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74720" y="18745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v5 (Node.js)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22768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個 API 路由模組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26791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認證 + Role Middleware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0815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檔案上傳 10MB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280160"/>
            <a:ext cx="2560320" cy="22860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1280160"/>
            <a:ext cx="256032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371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資料層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46520" y="18745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(better-sqlite3)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22768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 張核心資料表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26791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Migration 系統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30815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持久磁碟 /data/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74904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749040"/>
            <a:ext cx="64008" cy="77724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安全防護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41330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CSP · CORS · Rate Limit · bcryptjs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374904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749040"/>
            <a:ext cx="64008" cy="7772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整合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83280" y="41330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@anthropic-ai/sdk · Claude API · Excel 自動分析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80760" y="374904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80760" y="3749040"/>
            <a:ext cx="64008" cy="777240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6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通訊服務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63640" y="41330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SMTP · JWT 8h 過期 · nodemailer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資料庫設計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11+ 張資料表完整業務模型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82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Leica HistoCore MULTICUT 報價配置系統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82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80160"/>
            <a:ext cx="64008" cy="585216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 · 角色 · 報價前綴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911096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911096"/>
            <a:ext cx="64008" cy="585216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02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2002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產品目錄 · 分類 · PM 負責人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542032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42032"/>
            <a:ext cx="64008" cy="585216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4層定價 · 貨幣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72968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72968"/>
            <a:ext cx="64008" cy="5852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23160" y="3264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報價主表 · 狀態流轉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803904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803904"/>
            <a:ext cx="64008" cy="5852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quote_items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23160" y="38953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報價明細 · 單價快照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434840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434840"/>
            <a:ext cx="64008" cy="585216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quote_approvals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2316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審批歷史 · 操作記錄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1280160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1280160"/>
            <a:ext cx="64008" cy="585216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approval_chain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1228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審批鏈配置 · 執行順序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1911096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1911096"/>
            <a:ext cx="64008" cy="585216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002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12280" y="2002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清單 · 儀器分類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2542032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2542032"/>
            <a:ext cx="64008" cy="585216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bom_items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1228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品項 · 數量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09160" y="3172968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3172968"/>
            <a:ext cx="64008" cy="585216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12280" y="3264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品牌管理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09160" y="3803904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3803904"/>
            <a:ext cx="64008" cy="585216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812280" y="38953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通知系統 · 已讀追蹤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部署架構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本機開發 → GitHub 版本控制 → Railway 自動部署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82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Leica HistoCore MULTICUT 報價配置系統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82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5448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54480"/>
            <a:ext cx="2560320" cy="548640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本機開發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" y="19659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SQLite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6517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環境變數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09067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版本控制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07792" y="24323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5B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98648" y="2816352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(手動)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91840" y="155448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554480"/>
            <a:ext cx="2560320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91840" y="19659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0440" y="221284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主分支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20440" y="26517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手動同步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309067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版本歷史與回溯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79592" y="24323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70448" y="2816352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(自動)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63640" y="155448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1554480"/>
            <a:ext cx="2560320" cy="54864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63640" y="19659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92240" y="221284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自動偵測 push 部署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26517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Procfile 啟動配置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309067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持久磁碟 /data/leica.db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3840480"/>
            <a:ext cx="8503920" cy="713232"/>
          </a:xfrm>
          <a:prstGeom prst="rect">
            <a:avLst/>
          </a:prstGeom>
          <a:solidFill>
            <a:srgbClr val="1C2B4A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3950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Procfile 啟動指令：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560320" y="39502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node database/seed.js &amp;&amp; node server.js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4261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啟動時自動執行資料庫初始化與 Schema Migration，確保 Railway 每次部署後資料庫結構正確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更新日誌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 → v0.8 系統演進歷程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82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Leica HistoCore MULTICUT 報價配置系統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82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14800" cy="621792"/>
          </a:xfrm>
          <a:prstGeom prst="rect">
            <a:avLst/>
          </a:prstGeom>
          <a:solidFill>
            <a:srgbClr val="F5E6E6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61872"/>
            <a:ext cx="64008" cy="621792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533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13533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角色權限功能實裝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164592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middleware + 前端動態 tabs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26187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261872"/>
            <a:ext cx="64008" cy="621792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3533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6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32120" y="13533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業務報價單管理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164592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通知系統、case_notes、刪除報價、Email 通知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97510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1975104"/>
            <a:ext cx="64008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06654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20665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審批鏈 Bug 修復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235915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修復 FOREIGN KEY 錯誤，super_admin canManage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97510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975104"/>
            <a:ext cx="64008" cy="6217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06654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20665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角色權限管理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235915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super_admin/demo 角色、匯出產品 Excel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68833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688336"/>
            <a:ext cx="64008" cy="621792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77977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3000" y="27797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動態產品目錄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" y="307238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大類動態顯示、instrument_category 儲存修復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68833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688336"/>
            <a:ext cx="64008" cy="621792"/>
          </a:xfrm>
          <a:prstGeom prst="rect">
            <a:avLst/>
          </a:prstGeom>
          <a:solidFill>
            <a:srgbClr val="2B65B8"/>
          </a:solidFill>
          <a:ln w="12700">
            <a:solidFill>
              <a:srgbClr val="2B65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77977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6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32120" y="27797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報價編號系統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32120" y="307238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估價單字軌 + 流水號報價編號 YYYYMMDD_prefix###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40156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" y="3401568"/>
            <a:ext cx="64008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49300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43000" y="34930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重設計 + AI 匯入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43000" y="378561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Schoger 18 原則 UI、網頁版 Excel 匯入、Claude 分析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340156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3401568"/>
            <a:ext cx="64008" cy="62179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49300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532120" y="34930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基礎建設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532120" y="378561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初始版本 + 登入安全 + Railway 部署 + Rate Limit 修復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Leica 報價配置系統介紹</dc:title>
  <dc:subject>PptxGenJS Presentation</dc:subject>
  <dc:creator>Leica Biosystems</dc:creator>
  <cp:lastModifiedBy>Leica Biosystems</cp:lastModifiedBy>
  <cp:revision>1</cp:revision>
  <dcterms:created xsi:type="dcterms:W3CDTF">2026-03-24T15:32:08Z</dcterms:created>
  <dcterms:modified xsi:type="dcterms:W3CDTF">2026-03-24T15:32:08Z</dcterms:modified>
</cp:coreProperties>
</file>